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9" r:id="rId9"/>
    <p:sldId id="270" r:id="rId10"/>
    <p:sldId id="263" r:id="rId11"/>
    <p:sldId id="264" r:id="rId12"/>
    <p:sldId id="271" r:id="rId13"/>
    <p:sldId id="272" r:id="rId14"/>
    <p:sldId id="273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841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>
      <p:cViewPr varScale="1">
        <p:scale>
          <a:sx n="93" d="100"/>
          <a:sy n="93" d="100"/>
        </p:scale>
        <p:origin x="90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7538AE-69CD-210E-5515-FFAC8D9DD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2EFB428-1697-7CDD-7CDC-7893F862C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C256E8-81B3-5E96-BFDB-2A9CBB385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48F7-B3AF-41D5-965F-92118F0FEF0A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40C303-34FB-96D2-3668-C86897F69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C8B2B1-1C2E-4146-1E68-F5C81F4AA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1A613-A043-401E-A61D-E46EEA10D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456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42951E-D880-D1DF-2D7D-8AB84F51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85BFAF-7EAE-2688-9705-19C9850DC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4AF763-D0CA-03BB-423E-678EF5C03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48F7-B3AF-41D5-965F-92118F0FEF0A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093F45-72C1-F9A7-E93D-9DCD4FFF7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BB929C-7093-B800-1558-55B4DD87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1A613-A043-401E-A61D-E46EEA10D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9656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2B9DFC-0F4D-D52F-8F8C-EBF3DD04F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FCD6B2-83D0-2261-2093-CDC88187A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B0FB7D-6A9C-2849-002C-0C6C5279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48F7-B3AF-41D5-965F-92118F0FEF0A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29BB30-972A-D6CB-841C-BC6BB2B4D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6AD13A-E098-A40A-D738-71CD21F2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1A613-A043-401E-A61D-E46EEA10D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6829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DE6EF8-C923-C4B6-D1BD-ED9662D1F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E561D7-54D5-A1D2-04BB-5703F380E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02466F3-7F56-ACA9-6072-72EC7A471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D092A8-51B9-C903-523D-7B08DE57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48F7-B3AF-41D5-965F-92118F0FEF0A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68B2EFD-E0B0-EB28-3AAA-DFF831858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1028AE-EDBE-8675-663C-8C65CA037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1A613-A043-401E-A61D-E46EEA10D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3388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19E0C2-4CE9-0198-8B00-1A0AAE752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1F47505-9844-DDF8-B8F1-645A6EFF1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03D2EE-F838-DD1A-6456-40AB86F94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3B9F35A-3D89-2D03-80D0-991A031836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07CD691-F10E-C31A-2B29-73B9A2912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DDECD4F-181F-7575-62EA-C2FA476FB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48F7-B3AF-41D5-965F-92118F0FEF0A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47B4B4F-5C68-C543-1053-10B82E3B0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290A52A-E7A3-878A-357B-6516BBB2E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1A613-A043-401E-A61D-E46EEA10D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2502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CCEAEA-D412-4A12-74A4-EA7E907CC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1336CC6-58BD-9C60-EEAD-500BF826C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48F7-B3AF-41D5-965F-92118F0FEF0A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CF9C3E-7059-B4E8-0B64-0223DA79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DDB009B-F42C-F605-A11C-DBB0FB2E4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1A613-A043-401E-A61D-E46EEA10D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629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508C40A-4DBE-9115-40CE-DBFA42E54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48F7-B3AF-41D5-965F-92118F0FEF0A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9BFBAD4-7C51-4936-8023-FA1329DB3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68641C-EE91-C4CA-C782-6186B52C9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1A613-A043-401E-A61D-E46EEA10D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5521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8E1C86-8D9B-F2A8-434D-F0098684C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D09A29-C9BD-8C38-8CD7-8088D6F0B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C40CDE8-30CD-B8CC-A17E-6E1C72AA7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7AE4CC-2648-3702-6B62-8CB9B9B26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48F7-B3AF-41D5-965F-92118F0FEF0A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3F4FB66-07AE-F686-A9C7-D621E3693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7A7FC64-D183-2EC0-1B1B-FDB6FE903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1A613-A043-401E-A61D-E46EEA10D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4424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ACB134-8181-BE92-CE30-7748E8F7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3BD243B-A11B-D9C2-728C-F3AACF5F37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1442486-2109-2771-1357-6BAA10898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6AC76D2-C481-E2D5-248A-CDBD2CE3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48F7-B3AF-41D5-965F-92118F0FEF0A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61FA0C-E4DE-7273-27A6-F82AC5C1C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453FFD-8CCC-D791-3F90-D114BDAB3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1A613-A043-401E-A61D-E46EEA10D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3352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D48C7F-D36F-9411-F056-9834EF94F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66A3D0-F4AB-9863-DD3E-DC8778A2A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D59047-5AF2-2509-8376-714465AEF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48F7-B3AF-41D5-965F-92118F0FEF0A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2C4237-E6A9-A92B-F652-4EAC6EA66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60B44-0E45-6EFC-9789-3C43AD9C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1A613-A043-401E-A61D-E46EEA10D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5758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5C9FD80-1A6F-BD6D-356A-5237834D3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47CB55-079D-FECF-140C-755E558C4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867B4F-8000-3069-8662-07A4F241F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48F7-B3AF-41D5-965F-92118F0FEF0A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22C60E-E1ED-2585-6F23-01733EEE0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A110CD-18CA-4027-B6FD-420CBC0CC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1A613-A043-401E-A61D-E46EEA10D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238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6B0743F-5F4B-EE33-D303-19B857C03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315F44-C481-EC43-282E-B745C11EB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8982F1-D4F0-58D2-3623-A4DF139051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D48F7-B3AF-41D5-965F-92118F0FEF0A}" type="datetimeFigureOut">
              <a:rPr lang="fr-FR" smtClean="0"/>
              <a:t>24/11/2025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29CA46-7346-AB17-A611-8C60FD2F89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D6066C-560D-9D86-3BBF-BB71F9EEE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1A613-A043-401E-A61D-E46EEA10DA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07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6C6CFB-88DD-8ABA-B9CD-8053A03597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Segmentation Clients – </a:t>
            </a:r>
            <a:r>
              <a:rPr lang="fr-FR" dirty="0" err="1">
                <a:solidFill>
                  <a:schemeClr val="bg1"/>
                </a:solidFill>
              </a:rPr>
              <a:t>Olist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B37794B-6E61-C335-4B88-69AAB9997A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Aurélien Gruzon – Formation AI </a:t>
            </a:r>
            <a:r>
              <a:rPr lang="fr-FR" dirty="0" err="1">
                <a:solidFill>
                  <a:schemeClr val="bg1"/>
                </a:solidFill>
              </a:rPr>
              <a:t>Engineer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080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128F61-9C02-B24D-BD9E-73910E557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4477BBA-E1B1-D361-6917-5F898B36AE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2055249"/>
            <a:ext cx="913583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Contexte &amp; Objectifs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Données &amp; Préparation (RFM)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Méthodologie &amp; Choix de l’algorithme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Résultats : segmentation en 3 clusters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Comparaison avec k=6 (robustesse &amp; maintenance)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Recommandations &amp; Conclusion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908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30104E-1B4C-CBD6-2EC7-42303F76E71D}"/>
              </a:ext>
            </a:extLst>
          </p:cNvPr>
          <p:cNvSpPr/>
          <p:nvPr/>
        </p:nvSpPr>
        <p:spPr>
          <a:xfrm>
            <a:off x="-152400" y="-81280"/>
            <a:ext cx="12496800" cy="1788160"/>
          </a:xfrm>
          <a:prstGeom prst="rect">
            <a:avLst/>
          </a:prstGeom>
          <a:solidFill>
            <a:srgbClr val="0E28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3F0D167-92E4-87C1-EBFB-3A7A5737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7F7F7"/>
                </a:solidFill>
              </a:rPr>
              <a:t>Contexte &amp; Enjeux métier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9C09E1-9480-CC39-6945-2E248E369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rgbClr val="0E2841"/>
                </a:solidFill>
              </a:rPr>
              <a:t>Contexte</a:t>
            </a:r>
          </a:p>
          <a:p>
            <a:r>
              <a:rPr lang="fr-FR" dirty="0" err="1">
                <a:solidFill>
                  <a:srgbClr val="0E2841"/>
                </a:solidFill>
              </a:rPr>
              <a:t>Olist</a:t>
            </a:r>
            <a:r>
              <a:rPr lang="fr-FR" dirty="0">
                <a:solidFill>
                  <a:srgbClr val="0E2841"/>
                </a:solidFill>
              </a:rPr>
              <a:t> : marketplace brésilienne regroupant des milliers de vendeurs.</a:t>
            </a:r>
          </a:p>
          <a:p>
            <a:r>
              <a:rPr lang="fr-FR" dirty="0">
                <a:solidFill>
                  <a:srgbClr val="0E2841"/>
                </a:solidFill>
              </a:rPr>
              <a:t>Données disponibles : historique transactions, commandes, paiements, livraisons.</a:t>
            </a:r>
          </a:p>
          <a:p>
            <a:r>
              <a:rPr lang="fr-FR" dirty="0">
                <a:solidFill>
                  <a:srgbClr val="0E2841"/>
                </a:solidFill>
              </a:rPr>
              <a:t>Problème identifié : </a:t>
            </a:r>
            <a:r>
              <a:rPr lang="fr-FR" dirty="0"/>
              <a:t>Besoin d’une segmentation exploitable et cohérente pour guider les actions marketing.</a:t>
            </a:r>
          </a:p>
          <a:p>
            <a:pPr marL="0" indent="0">
              <a:buNone/>
            </a:pPr>
            <a:r>
              <a:rPr lang="fr-FR" b="1" dirty="0">
                <a:solidFill>
                  <a:srgbClr val="0E2841"/>
                </a:solidFill>
              </a:rPr>
              <a:t>Enjeu pour </a:t>
            </a:r>
            <a:r>
              <a:rPr lang="fr-FR" b="1" dirty="0" err="1">
                <a:solidFill>
                  <a:srgbClr val="0E2841"/>
                </a:solidFill>
              </a:rPr>
              <a:t>Olist</a:t>
            </a:r>
            <a:endParaRPr lang="fr-FR" b="1" dirty="0">
              <a:solidFill>
                <a:srgbClr val="0E2841"/>
              </a:solidFill>
            </a:endParaRPr>
          </a:p>
          <a:p>
            <a:r>
              <a:rPr lang="fr-FR" dirty="0">
                <a:solidFill>
                  <a:srgbClr val="0E2841"/>
                </a:solidFill>
              </a:rPr>
              <a:t>Comprendre les comportements clients pour mieux orienter le marketing.</a:t>
            </a:r>
          </a:p>
          <a:p>
            <a:r>
              <a:rPr lang="fr-FR" dirty="0">
                <a:solidFill>
                  <a:srgbClr val="0E2841"/>
                </a:solidFill>
              </a:rPr>
              <a:t>Prioriser les efforts : réactivation, fidélisation, incitation à l’achat.</a:t>
            </a:r>
          </a:p>
          <a:p>
            <a:r>
              <a:rPr lang="fr-FR" dirty="0">
                <a:solidFill>
                  <a:srgbClr val="0E2841"/>
                </a:solidFill>
              </a:rPr>
              <a:t>Améliorer la valeur client et la rétention.</a:t>
            </a:r>
          </a:p>
          <a:p>
            <a:pPr marL="0" indent="0">
              <a:buNone/>
            </a:pPr>
            <a:r>
              <a:rPr lang="fr-FR" b="1" dirty="0">
                <a:solidFill>
                  <a:srgbClr val="0E2841"/>
                </a:solidFill>
              </a:rPr>
              <a:t>Objectif du projet</a:t>
            </a:r>
          </a:p>
          <a:p>
            <a:r>
              <a:rPr lang="fr-FR" dirty="0">
                <a:solidFill>
                  <a:srgbClr val="0E2841"/>
                </a:solidFill>
              </a:rPr>
              <a:t>Créer une segmentation simple, stable et actionnable basée sur le modèle RFM.</a:t>
            </a:r>
          </a:p>
          <a:p>
            <a:r>
              <a:rPr lang="fr-FR" dirty="0">
                <a:solidFill>
                  <a:srgbClr val="0E2841"/>
                </a:solidFill>
              </a:rPr>
              <a:t>Retenir un nombre optimal de clusters utilisable </a:t>
            </a:r>
            <a:r>
              <a:rPr lang="fr-FR" b="1" dirty="0">
                <a:solidFill>
                  <a:srgbClr val="0E2841"/>
                </a:solidFill>
              </a:rPr>
              <a:t>réellement</a:t>
            </a:r>
            <a:r>
              <a:rPr lang="fr-FR" dirty="0">
                <a:solidFill>
                  <a:srgbClr val="0E2841"/>
                </a:solidFill>
              </a:rPr>
              <a:t> par un service marketing.</a:t>
            </a:r>
          </a:p>
        </p:txBody>
      </p:sp>
    </p:spTree>
    <p:extLst>
      <p:ext uri="{BB962C8B-B14F-4D97-AF65-F5344CB8AC3E}">
        <p14:creationId xmlns:p14="http://schemas.microsoft.com/office/powerpoint/2010/main" val="2873756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23927-7FA0-F851-4F0E-9524DC41D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B52419-C3AA-AB6F-DD14-A7C2B9CEF1AA}"/>
              </a:ext>
            </a:extLst>
          </p:cNvPr>
          <p:cNvSpPr/>
          <p:nvPr/>
        </p:nvSpPr>
        <p:spPr>
          <a:xfrm>
            <a:off x="-152400" y="-81280"/>
            <a:ext cx="12496800" cy="1788160"/>
          </a:xfrm>
          <a:prstGeom prst="rect">
            <a:avLst/>
          </a:prstGeom>
          <a:solidFill>
            <a:srgbClr val="0E28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B8FF766-78A5-1A3A-5D93-23E1AEEF9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7F7F7"/>
                </a:solidFill>
              </a:rPr>
              <a:t>Objectif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FEF528-6425-89F6-B847-506444679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>
                <a:solidFill>
                  <a:srgbClr val="0E2841"/>
                </a:solidFill>
              </a:rPr>
              <a:t>Construire une segmentation simple, robuste et interprétable basée sur le modèle </a:t>
            </a:r>
            <a:r>
              <a:rPr lang="fr-FR" b="1" dirty="0">
                <a:solidFill>
                  <a:srgbClr val="0E2841"/>
                </a:solidFill>
              </a:rPr>
              <a:t>RFM</a:t>
            </a:r>
            <a:r>
              <a:rPr lang="fr-FR" dirty="0">
                <a:solidFill>
                  <a:srgbClr val="0E2841"/>
                </a:solidFill>
              </a:rPr>
              <a:t>.</a:t>
            </a:r>
          </a:p>
          <a:p>
            <a:r>
              <a:rPr lang="fr-FR" dirty="0">
                <a:solidFill>
                  <a:srgbClr val="0E2841"/>
                </a:solidFill>
              </a:rPr>
              <a:t>Retenir un nombre de clusters optimal, stable et exploitable par un service marketing.</a:t>
            </a:r>
          </a:p>
          <a:p>
            <a:r>
              <a:rPr lang="fr-FR" dirty="0">
                <a:solidFill>
                  <a:srgbClr val="0E2841"/>
                </a:solidFill>
              </a:rPr>
              <a:t>Comparer plusieurs algorithmes et plusieurs valeurs de k pour justifier le choix final.</a:t>
            </a:r>
          </a:p>
          <a:p>
            <a:r>
              <a:rPr lang="fr-FR" dirty="0">
                <a:solidFill>
                  <a:srgbClr val="0E2841"/>
                </a:solidFill>
              </a:rPr>
              <a:t>Fournir des profils clairs pour orienter les actions marketing.</a:t>
            </a:r>
          </a:p>
        </p:txBody>
      </p:sp>
    </p:spTree>
    <p:extLst>
      <p:ext uri="{BB962C8B-B14F-4D97-AF65-F5344CB8AC3E}">
        <p14:creationId xmlns:p14="http://schemas.microsoft.com/office/powerpoint/2010/main" val="3923642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03F0F-DA06-6999-591D-01AF75EA1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501235-75ED-2E35-31DC-BAFA9B11026A}"/>
              </a:ext>
            </a:extLst>
          </p:cNvPr>
          <p:cNvSpPr/>
          <p:nvPr/>
        </p:nvSpPr>
        <p:spPr>
          <a:xfrm>
            <a:off x="-152400" y="-81280"/>
            <a:ext cx="12496800" cy="1788160"/>
          </a:xfrm>
          <a:prstGeom prst="rect">
            <a:avLst/>
          </a:prstGeom>
          <a:solidFill>
            <a:srgbClr val="0E28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B15B13-E0A4-8768-01A1-EFED61555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7F7F7"/>
                </a:solidFill>
              </a:rPr>
              <a:t>Jeu de données &amp; Préparation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9AA576-8215-A5A7-7735-3A823DB91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solidFill>
                  <a:srgbClr val="0E2841"/>
                </a:solidFill>
              </a:rPr>
              <a:t>Tables utilisées</a:t>
            </a:r>
            <a:r>
              <a:rPr lang="fr-FR" dirty="0">
                <a:solidFill>
                  <a:srgbClr val="0E2841"/>
                </a:solidFill>
              </a:rPr>
              <a:t> : </a:t>
            </a:r>
            <a:r>
              <a:rPr lang="fr-FR" dirty="0" err="1">
                <a:solidFill>
                  <a:srgbClr val="0E2841"/>
                </a:solidFill>
              </a:rPr>
              <a:t>customers</a:t>
            </a:r>
            <a:r>
              <a:rPr lang="fr-FR" dirty="0">
                <a:solidFill>
                  <a:srgbClr val="0E2841"/>
                </a:solidFill>
              </a:rPr>
              <a:t>, </a:t>
            </a:r>
            <a:r>
              <a:rPr lang="fr-FR" dirty="0" err="1">
                <a:solidFill>
                  <a:srgbClr val="0E2841"/>
                </a:solidFill>
              </a:rPr>
              <a:t>orders</a:t>
            </a:r>
            <a:r>
              <a:rPr lang="fr-FR" dirty="0">
                <a:solidFill>
                  <a:srgbClr val="0E2841"/>
                </a:solidFill>
              </a:rPr>
              <a:t>, </a:t>
            </a:r>
            <a:r>
              <a:rPr lang="fr-FR" dirty="0" err="1">
                <a:solidFill>
                  <a:srgbClr val="0E2841"/>
                </a:solidFill>
              </a:rPr>
              <a:t>order_items</a:t>
            </a:r>
            <a:r>
              <a:rPr lang="fr-FR" dirty="0">
                <a:solidFill>
                  <a:srgbClr val="0E2841"/>
                </a:solidFill>
              </a:rPr>
              <a:t>, </a:t>
            </a:r>
            <a:r>
              <a:rPr lang="fr-FR" dirty="0" err="1">
                <a:solidFill>
                  <a:srgbClr val="0E2841"/>
                </a:solidFill>
              </a:rPr>
              <a:t>order_payments</a:t>
            </a:r>
            <a:r>
              <a:rPr lang="fr-FR" dirty="0">
                <a:solidFill>
                  <a:srgbClr val="0E2841"/>
                </a:solidFill>
              </a:rPr>
              <a:t>, </a:t>
            </a:r>
            <a:r>
              <a:rPr lang="fr-FR" dirty="0" err="1">
                <a:solidFill>
                  <a:srgbClr val="0E2841"/>
                </a:solidFill>
              </a:rPr>
              <a:t>order_reviews</a:t>
            </a:r>
            <a:r>
              <a:rPr lang="fr-FR" dirty="0">
                <a:solidFill>
                  <a:srgbClr val="0E2841"/>
                </a:solidFill>
              </a:rPr>
              <a:t>. Création d’un </a:t>
            </a:r>
            <a:r>
              <a:rPr lang="fr-FR" dirty="0" err="1">
                <a:solidFill>
                  <a:srgbClr val="0E2841"/>
                </a:solidFill>
              </a:rPr>
              <a:t>df</a:t>
            </a:r>
            <a:r>
              <a:rPr lang="fr-FR" dirty="0">
                <a:solidFill>
                  <a:srgbClr val="0E2841"/>
                </a:solidFill>
              </a:rPr>
              <a:t> à partir de requêtes SQL.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b="1" dirty="0">
                <a:solidFill>
                  <a:srgbClr val="0E2841"/>
                </a:solidFill>
              </a:rPr>
              <a:t>Étapes réalisées</a:t>
            </a:r>
            <a:r>
              <a:rPr lang="fr-FR" dirty="0">
                <a:solidFill>
                  <a:srgbClr val="0E2841"/>
                </a:solidFill>
              </a:rPr>
              <a:t> :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dirty="0">
                <a:solidFill>
                  <a:srgbClr val="0E2841"/>
                </a:solidFill>
              </a:rPr>
              <a:t>– Nettoyage : dates incohérentes, commandes annulées, valeurs manquantes.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dirty="0">
                <a:solidFill>
                  <a:srgbClr val="0E2841"/>
                </a:solidFill>
              </a:rPr>
              <a:t>– Jointures pour reconstruire le parcours client complet.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dirty="0">
                <a:solidFill>
                  <a:srgbClr val="0E2841"/>
                </a:solidFill>
              </a:rPr>
              <a:t>– Construction des variables </a:t>
            </a:r>
            <a:r>
              <a:rPr lang="fr-FR" b="1" dirty="0">
                <a:solidFill>
                  <a:srgbClr val="0E2841"/>
                </a:solidFill>
              </a:rPr>
              <a:t>RFM</a:t>
            </a:r>
            <a:r>
              <a:rPr lang="fr-FR" dirty="0">
                <a:solidFill>
                  <a:srgbClr val="0E2841"/>
                </a:solidFill>
              </a:rPr>
              <a:t> à partir des dates et montants.</a:t>
            </a:r>
          </a:p>
          <a:p>
            <a:pPr marL="0" indent="0">
              <a:buNone/>
            </a:pPr>
            <a:r>
              <a:rPr lang="fr-FR" b="1" dirty="0">
                <a:solidFill>
                  <a:srgbClr val="0E2841"/>
                </a:solidFill>
              </a:rPr>
              <a:t>Important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dirty="0">
                <a:solidFill>
                  <a:srgbClr val="0E2841"/>
                </a:solidFill>
              </a:rPr>
              <a:t>– Aucun traitement d’</a:t>
            </a:r>
            <a:r>
              <a:rPr lang="fr-FR" dirty="0" err="1">
                <a:solidFill>
                  <a:srgbClr val="0E2841"/>
                </a:solidFill>
              </a:rPr>
              <a:t>outliers</a:t>
            </a:r>
            <a:r>
              <a:rPr lang="fr-FR" dirty="0">
                <a:solidFill>
                  <a:srgbClr val="0E2841"/>
                </a:solidFill>
              </a:rPr>
              <a:t> : ils reflètent de vrais clients « premium » stratégiques.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dirty="0">
                <a:solidFill>
                  <a:srgbClr val="0E2841"/>
                </a:solidFill>
              </a:rPr>
              <a:t>– </a:t>
            </a:r>
            <a:r>
              <a:rPr lang="fr-FR" dirty="0" err="1">
                <a:solidFill>
                  <a:srgbClr val="0E2841"/>
                </a:solidFill>
              </a:rPr>
              <a:t>Dataset</a:t>
            </a:r>
            <a:r>
              <a:rPr lang="fr-FR" dirty="0">
                <a:solidFill>
                  <a:srgbClr val="0E2841"/>
                </a:solidFill>
              </a:rPr>
              <a:t> final propre et standardisé.</a:t>
            </a:r>
          </a:p>
          <a:p>
            <a:pPr marL="0" indent="0">
              <a:buNone/>
            </a:pPr>
            <a:endParaRPr lang="fr-FR" dirty="0">
              <a:solidFill>
                <a:srgbClr val="0E28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159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2B9F6-97E4-5461-C70B-2DFF54FC9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958A11-EBAE-01C9-856F-B33065A21413}"/>
              </a:ext>
            </a:extLst>
          </p:cNvPr>
          <p:cNvSpPr/>
          <p:nvPr/>
        </p:nvSpPr>
        <p:spPr>
          <a:xfrm>
            <a:off x="-152400" y="-81280"/>
            <a:ext cx="12496800" cy="1788160"/>
          </a:xfrm>
          <a:prstGeom prst="rect">
            <a:avLst/>
          </a:prstGeom>
          <a:solidFill>
            <a:srgbClr val="0E28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A0E5133-0450-75E4-A8AB-9053C067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7F7F7"/>
                </a:solidFill>
              </a:rPr>
              <a:t>Variables RFM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CC9568-EE4B-4650-99D0-B478C0F1A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rgbClr val="0E2841"/>
                </a:solidFill>
              </a:rPr>
              <a:t>R = </a:t>
            </a:r>
            <a:r>
              <a:rPr lang="fr-FR" b="1" dirty="0" err="1">
                <a:solidFill>
                  <a:srgbClr val="0E2841"/>
                </a:solidFill>
              </a:rPr>
              <a:t>Recency</a:t>
            </a:r>
            <a:r>
              <a:rPr lang="fr-FR" dirty="0">
                <a:solidFill>
                  <a:srgbClr val="0E2841"/>
                </a:solidFill>
              </a:rPr>
              <a:t> : temps écoulé depuis le dernier achat.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b="1" dirty="0">
                <a:solidFill>
                  <a:srgbClr val="0E2841"/>
                </a:solidFill>
              </a:rPr>
              <a:t>F = Frequency</a:t>
            </a:r>
            <a:r>
              <a:rPr lang="fr-FR" dirty="0">
                <a:solidFill>
                  <a:srgbClr val="0E2841"/>
                </a:solidFill>
              </a:rPr>
              <a:t> : nombre total de commandes.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b="1" dirty="0">
                <a:solidFill>
                  <a:srgbClr val="0E2841"/>
                </a:solidFill>
              </a:rPr>
              <a:t>M = </a:t>
            </a:r>
            <a:r>
              <a:rPr lang="fr-FR" b="1" dirty="0" err="1">
                <a:solidFill>
                  <a:srgbClr val="0E2841"/>
                </a:solidFill>
              </a:rPr>
              <a:t>Monetary</a:t>
            </a:r>
            <a:r>
              <a:rPr lang="fr-FR" dirty="0">
                <a:solidFill>
                  <a:srgbClr val="0E2841"/>
                </a:solidFill>
              </a:rPr>
              <a:t> : montant total dépensé.</a:t>
            </a:r>
          </a:p>
          <a:p>
            <a:pPr marL="0" indent="0">
              <a:buNone/>
            </a:pPr>
            <a:endParaRPr lang="fr-FR" b="1" dirty="0">
              <a:solidFill>
                <a:srgbClr val="0E2841"/>
              </a:solidFill>
            </a:endParaRPr>
          </a:p>
          <a:p>
            <a:pPr marL="0" indent="0">
              <a:buNone/>
            </a:pPr>
            <a:r>
              <a:rPr lang="fr-FR" b="1" dirty="0">
                <a:solidFill>
                  <a:srgbClr val="0E2841"/>
                </a:solidFill>
              </a:rPr>
              <a:t>Pourquoi ce choix ?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dirty="0">
                <a:solidFill>
                  <a:srgbClr val="0E2841"/>
                </a:solidFill>
              </a:rPr>
              <a:t>– Méthode éprouvée en marketing.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dirty="0">
                <a:solidFill>
                  <a:srgbClr val="0E2841"/>
                </a:solidFill>
              </a:rPr>
              <a:t>– Simple, très robuste, facile à interpréter.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dirty="0">
                <a:solidFill>
                  <a:srgbClr val="0E2841"/>
                </a:solidFill>
              </a:rPr>
              <a:t>– Enrichie ici en ajoutant les </a:t>
            </a:r>
            <a:r>
              <a:rPr lang="fr-FR" dirty="0" err="1">
                <a:solidFill>
                  <a:srgbClr val="0E2841"/>
                </a:solidFill>
              </a:rPr>
              <a:t>reviews</a:t>
            </a:r>
            <a:r>
              <a:rPr lang="fr-FR" dirty="0">
                <a:solidFill>
                  <a:srgbClr val="0E2841"/>
                </a:solidFill>
              </a:rPr>
              <a:t> et les </a:t>
            </a:r>
            <a:r>
              <a:rPr lang="fr-FR" dirty="0" err="1">
                <a:solidFill>
                  <a:srgbClr val="0E2841"/>
                </a:solidFill>
              </a:rPr>
              <a:t>average</a:t>
            </a:r>
            <a:r>
              <a:rPr lang="fr-FR" dirty="0">
                <a:solidFill>
                  <a:srgbClr val="0E2841"/>
                </a:solidFill>
              </a:rPr>
              <a:t> </a:t>
            </a:r>
            <a:r>
              <a:rPr lang="fr-FR" dirty="0" err="1">
                <a:solidFill>
                  <a:srgbClr val="0E2841"/>
                </a:solidFill>
              </a:rPr>
              <a:t>delivery</a:t>
            </a:r>
            <a:r>
              <a:rPr lang="fr-FR" dirty="0">
                <a:solidFill>
                  <a:srgbClr val="0E2841"/>
                </a:solidFill>
              </a:rPr>
              <a:t> </a:t>
            </a:r>
            <a:r>
              <a:rPr lang="fr-FR" dirty="0" err="1">
                <a:solidFill>
                  <a:srgbClr val="0E2841"/>
                </a:solidFill>
              </a:rPr>
              <a:t>days</a:t>
            </a:r>
            <a:r>
              <a:rPr lang="fr-FR" dirty="0">
                <a:solidFill>
                  <a:srgbClr val="0E2841"/>
                </a:solidFill>
              </a:rPr>
              <a:t>, on obtient donc un espace à 5 dimensions.</a:t>
            </a:r>
          </a:p>
          <a:p>
            <a:pPr marL="0" indent="0">
              <a:buNone/>
            </a:pPr>
            <a:endParaRPr lang="fr-FR" dirty="0">
              <a:solidFill>
                <a:srgbClr val="0E28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329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2CA58-D0CC-A131-4F94-63032E0B8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D0BD6D-42A9-BB8F-6488-F606E5B9E73A}"/>
              </a:ext>
            </a:extLst>
          </p:cNvPr>
          <p:cNvSpPr/>
          <p:nvPr/>
        </p:nvSpPr>
        <p:spPr>
          <a:xfrm>
            <a:off x="-152400" y="-81280"/>
            <a:ext cx="12496800" cy="1788160"/>
          </a:xfrm>
          <a:prstGeom prst="rect">
            <a:avLst/>
          </a:prstGeom>
          <a:solidFill>
            <a:srgbClr val="0E28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BCA9C99-C36B-083D-43BB-A31C26EED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Benchmark des algorithmes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8C4C04-FEC6-A5C2-4CF8-F0E650F63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rgbClr val="0E2841"/>
                </a:solidFill>
              </a:rPr>
              <a:t>Algorithmes testés:</a:t>
            </a:r>
          </a:p>
          <a:p>
            <a:r>
              <a:rPr lang="fr-FR" b="1" dirty="0">
                <a:solidFill>
                  <a:srgbClr val="0E2841"/>
                </a:solidFill>
              </a:rPr>
              <a:t>K-</a:t>
            </a:r>
            <a:r>
              <a:rPr lang="fr-FR" b="1" dirty="0" err="1">
                <a:solidFill>
                  <a:srgbClr val="0E2841"/>
                </a:solidFill>
              </a:rPr>
              <a:t>Means</a:t>
            </a:r>
            <a:r>
              <a:rPr lang="fr-FR" dirty="0">
                <a:solidFill>
                  <a:srgbClr val="0E2841"/>
                </a:solidFill>
              </a:rPr>
              <a:t> : rapide, interprétable, nécessite de choisir k.</a:t>
            </a:r>
            <a:br>
              <a:rPr lang="fr-FR" dirty="0">
                <a:solidFill>
                  <a:srgbClr val="0E2841"/>
                </a:solidFill>
              </a:rPr>
            </a:br>
            <a:endParaRPr lang="fr-FR" dirty="0">
              <a:solidFill>
                <a:srgbClr val="0E2841"/>
              </a:solidFill>
            </a:endParaRPr>
          </a:p>
          <a:p>
            <a:r>
              <a:rPr lang="fr-FR" b="1" dirty="0" err="1">
                <a:solidFill>
                  <a:srgbClr val="0E2841"/>
                </a:solidFill>
              </a:rPr>
              <a:t>Agglomerative</a:t>
            </a:r>
            <a:r>
              <a:rPr lang="fr-FR" b="1" dirty="0">
                <a:solidFill>
                  <a:srgbClr val="0E2841"/>
                </a:solidFill>
              </a:rPr>
              <a:t> (Ward)</a:t>
            </a:r>
            <a:r>
              <a:rPr lang="fr-FR" dirty="0">
                <a:solidFill>
                  <a:srgbClr val="0E2841"/>
                </a:solidFill>
              </a:rPr>
              <a:t> : alternative robuste, cohérente avec les résultats de K-</a:t>
            </a:r>
            <a:r>
              <a:rPr lang="fr-FR" dirty="0" err="1">
                <a:solidFill>
                  <a:srgbClr val="0E2841"/>
                </a:solidFill>
              </a:rPr>
              <a:t>Means</a:t>
            </a:r>
            <a:r>
              <a:rPr lang="fr-FR" dirty="0">
                <a:solidFill>
                  <a:srgbClr val="0E2841"/>
                </a:solidFill>
              </a:rPr>
              <a:t>.</a:t>
            </a:r>
            <a:br>
              <a:rPr lang="fr-FR" dirty="0">
                <a:solidFill>
                  <a:srgbClr val="0E2841"/>
                </a:solidFill>
              </a:rPr>
            </a:br>
            <a:endParaRPr lang="fr-FR" dirty="0">
              <a:solidFill>
                <a:srgbClr val="0E2841"/>
              </a:solidFill>
            </a:endParaRPr>
          </a:p>
          <a:p>
            <a:r>
              <a:rPr lang="fr-FR" b="1" dirty="0">
                <a:solidFill>
                  <a:srgbClr val="0E2841"/>
                </a:solidFill>
              </a:rPr>
              <a:t>DBSCAN</a:t>
            </a:r>
            <a:r>
              <a:rPr lang="fr-FR" dirty="0">
                <a:solidFill>
                  <a:srgbClr val="0E2841"/>
                </a:solidFill>
              </a:rPr>
              <a:t> : inadapté → données trop denses et peu séparées → clusters “écrasés”.</a:t>
            </a:r>
          </a:p>
          <a:p>
            <a:pPr marL="0" indent="0">
              <a:buNone/>
            </a:pPr>
            <a:endParaRPr lang="fr-FR" dirty="0">
              <a:solidFill>
                <a:srgbClr val="0E2841"/>
              </a:solidFill>
            </a:endParaRPr>
          </a:p>
          <a:p>
            <a:pPr marL="0" indent="0">
              <a:buNone/>
            </a:pPr>
            <a:r>
              <a:rPr lang="fr-FR" b="1" dirty="0">
                <a:solidFill>
                  <a:srgbClr val="0E2841"/>
                </a:solidFill>
              </a:rPr>
              <a:t>Conclusion du benchmark: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dirty="0">
                <a:solidFill>
                  <a:srgbClr val="0E2841"/>
                </a:solidFill>
              </a:rPr>
              <a:t>→ K-</a:t>
            </a:r>
            <a:r>
              <a:rPr lang="fr-FR" dirty="0" err="1">
                <a:solidFill>
                  <a:srgbClr val="0E2841"/>
                </a:solidFill>
              </a:rPr>
              <a:t>Means</a:t>
            </a:r>
            <a:r>
              <a:rPr lang="fr-FR" dirty="0">
                <a:solidFill>
                  <a:srgbClr val="0E2841"/>
                </a:solidFill>
              </a:rPr>
              <a:t> = meilleur compromis performance / stabilité / interprétabilité.</a:t>
            </a:r>
          </a:p>
          <a:p>
            <a:pPr marL="0" indent="0">
              <a:buNone/>
            </a:pPr>
            <a:endParaRPr lang="fr-FR" dirty="0">
              <a:solidFill>
                <a:srgbClr val="0E28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226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ce réservé du contenu 8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254EBC5-CD3B-7C5C-8A7B-04FB6C4394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21" y="1018197"/>
            <a:ext cx="3825007" cy="2191210"/>
          </a:xfrm>
        </p:spPr>
      </p:pic>
      <p:pic>
        <p:nvPicPr>
          <p:cNvPr id="11" name="Image 10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9B9B4BBF-9A6D-61F3-4E3A-7D51617BB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21" y="3330591"/>
            <a:ext cx="3825007" cy="3116440"/>
          </a:xfrm>
          <a:prstGeom prst="rect">
            <a:avLst/>
          </a:prstGeom>
        </p:spPr>
      </p:pic>
      <p:pic>
        <p:nvPicPr>
          <p:cNvPr id="13" name="Image 12" descr="Une image contenant texte, Polic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B4A28693-E1E2-E01C-3114-1228E76A52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309" y="2735196"/>
            <a:ext cx="3038899" cy="1190791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751BF108-2934-F0AA-FD71-A6B4FCFE84AD}"/>
              </a:ext>
            </a:extLst>
          </p:cNvPr>
          <p:cNvSpPr txBox="1"/>
          <p:nvPr/>
        </p:nvSpPr>
        <p:spPr>
          <a:xfrm>
            <a:off x="827420" y="527681"/>
            <a:ext cx="3825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K-</a:t>
            </a:r>
            <a:r>
              <a:rPr lang="fr-FR" dirty="0" err="1">
                <a:solidFill>
                  <a:schemeClr val="bg1"/>
                </a:solidFill>
              </a:rPr>
              <a:t>means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97606A6-0315-DF6D-7FF1-0C8ED0E082D0}"/>
              </a:ext>
            </a:extLst>
          </p:cNvPr>
          <p:cNvSpPr txBox="1"/>
          <p:nvPr/>
        </p:nvSpPr>
        <p:spPr>
          <a:xfrm>
            <a:off x="7014309" y="2140482"/>
            <a:ext cx="3825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DB-Scan</a:t>
            </a:r>
          </a:p>
        </p:txBody>
      </p:sp>
    </p:spTree>
    <p:extLst>
      <p:ext uri="{BB962C8B-B14F-4D97-AF65-F5344CB8AC3E}">
        <p14:creationId xmlns:p14="http://schemas.microsoft.com/office/powerpoint/2010/main" val="3300866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5106BF-135E-19B3-B463-2AC27F587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Une image contenant ligne, Tracé, texte, diagramme&#10;&#10;Le contenu généré par l’IA peut être incorrect.">
            <a:extLst>
              <a:ext uri="{FF2B5EF4-FFF2-40B4-BE49-F238E27FC236}">
                <a16:creationId xmlns:a16="http://schemas.microsoft.com/office/drawing/2014/main" id="{90C8072A-540C-37EC-1DC5-E6AB0D529E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66" y="1248184"/>
            <a:ext cx="11772667" cy="4117031"/>
          </a:xfrm>
        </p:spPr>
      </p:pic>
    </p:spTree>
    <p:extLst>
      <p:ext uri="{BB962C8B-B14F-4D97-AF65-F5344CB8AC3E}">
        <p14:creationId xmlns:p14="http://schemas.microsoft.com/office/powerpoint/2010/main" val="2300676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8BC24-CE28-9A13-AD00-274B0EABF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558AC2-6D02-1459-A4A8-B3A4594AAEF8}"/>
              </a:ext>
            </a:extLst>
          </p:cNvPr>
          <p:cNvSpPr/>
          <p:nvPr/>
        </p:nvSpPr>
        <p:spPr>
          <a:xfrm>
            <a:off x="-152400" y="-81280"/>
            <a:ext cx="12496800" cy="1788160"/>
          </a:xfrm>
          <a:prstGeom prst="rect">
            <a:avLst/>
          </a:prstGeom>
          <a:solidFill>
            <a:srgbClr val="0E28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E7B1819-8CBA-E934-5D93-91443FFA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Détermination du nombre de clusters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26A968-D958-87BB-7717-B7593C172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rgbClr val="0E2841"/>
                </a:solidFill>
              </a:rPr>
              <a:t>Tests comparés : </a:t>
            </a:r>
            <a:r>
              <a:rPr lang="fr-FR" b="1" dirty="0">
                <a:solidFill>
                  <a:srgbClr val="0E2841"/>
                </a:solidFill>
              </a:rPr>
              <a:t>k = 3 vs k = 6</a:t>
            </a:r>
            <a:r>
              <a:rPr lang="fr-FR" dirty="0">
                <a:solidFill>
                  <a:srgbClr val="0E2841"/>
                </a:solidFill>
              </a:rPr>
              <a:t> (pour valider ou invalider la segmentation précédente).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b="1" dirty="0">
                <a:solidFill>
                  <a:srgbClr val="0E2841"/>
                </a:solidFill>
              </a:rPr>
              <a:t>Métriques</a:t>
            </a:r>
            <a:r>
              <a:rPr lang="fr-FR" dirty="0">
                <a:solidFill>
                  <a:srgbClr val="0E2841"/>
                </a:solidFill>
              </a:rPr>
              <a:t> :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dirty="0">
                <a:solidFill>
                  <a:srgbClr val="0E2841"/>
                </a:solidFill>
              </a:rPr>
              <a:t>– Silhouette → optimum clair autour de </a:t>
            </a:r>
            <a:r>
              <a:rPr lang="fr-FR" b="1" dirty="0">
                <a:solidFill>
                  <a:srgbClr val="0E2841"/>
                </a:solidFill>
              </a:rPr>
              <a:t>3</a:t>
            </a:r>
            <a:r>
              <a:rPr lang="fr-FR" dirty="0">
                <a:solidFill>
                  <a:srgbClr val="0E2841"/>
                </a:solidFill>
              </a:rPr>
              <a:t>.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dirty="0">
                <a:solidFill>
                  <a:srgbClr val="0E2841"/>
                </a:solidFill>
              </a:rPr>
              <a:t>– </a:t>
            </a:r>
            <a:r>
              <a:rPr lang="fr-FR" dirty="0" err="1">
                <a:solidFill>
                  <a:srgbClr val="0E2841"/>
                </a:solidFill>
              </a:rPr>
              <a:t>Calinski-Harabasz</a:t>
            </a:r>
            <a:r>
              <a:rPr lang="fr-FR" dirty="0">
                <a:solidFill>
                  <a:srgbClr val="0E2841"/>
                </a:solidFill>
              </a:rPr>
              <a:t> / Davies-</a:t>
            </a:r>
            <a:r>
              <a:rPr lang="fr-FR" dirty="0" err="1">
                <a:solidFill>
                  <a:srgbClr val="0E2841"/>
                </a:solidFill>
              </a:rPr>
              <a:t>Bouldin</a:t>
            </a:r>
            <a:r>
              <a:rPr lang="fr-FR" dirty="0">
                <a:solidFill>
                  <a:srgbClr val="0E2841"/>
                </a:solidFill>
              </a:rPr>
              <a:t> → cohérents avec k=3.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dirty="0">
                <a:solidFill>
                  <a:srgbClr val="0E2841"/>
                </a:solidFill>
              </a:rPr>
              <a:t>– Stabilité ARI → k=3 = le plus stable.</a:t>
            </a:r>
          </a:p>
          <a:p>
            <a:pPr marL="0" indent="0">
              <a:buNone/>
            </a:pPr>
            <a:r>
              <a:rPr lang="fr-FR" b="1" dirty="0">
                <a:solidFill>
                  <a:srgbClr val="0E2841"/>
                </a:solidFill>
              </a:rPr>
              <a:t>Conclusion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dirty="0">
                <a:solidFill>
                  <a:srgbClr val="0E2841"/>
                </a:solidFill>
              </a:rPr>
              <a:t>→ </a:t>
            </a:r>
            <a:r>
              <a:rPr lang="fr-FR" b="1" dirty="0">
                <a:solidFill>
                  <a:srgbClr val="0E2841"/>
                </a:solidFill>
              </a:rPr>
              <a:t>k=3 retenu</a:t>
            </a:r>
            <a:r>
              <a:rPr lang="fr-FR" dirty="0">
                <a:solidFill>
                  <a:srgbClr val="0E2841"/>
                </a:solidFill>
              </a:rPr>
              <a:t> (stabilité + maintenance + lisibilité).</a:t>
            </a:r>
          </a:p>
          <a:p>
            <a:pPr marL="0" indent="0">
              <a:buNone/>
            </a:pPr>
            <a:endParaRPr lang="fr-FR" dirty="0">
              <a:solidFill>
                <a:srgbClr val="0E28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84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9C880-99D5-0E13-CC80-7DF80A00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B944E5-7825-0303-B833-7BBDD014F048}"/>
              </a:ext>
            </a:extLst>
          </p:cNvPr>
          <p:cNvSpPr/>
          <p:nvPr/>
        </p:nvSpPr>
        <p:spPr>
          <a:xfrm>
            <a:off x="-152400" y="-81280"/>
            <a:ext cx="12496800" cy="1788160"/>
          </a:xfrm>
          <a:prstGeom prst="rect">
            <a:avLst/>
          </a:prstGeom>
          <a:solidFill>
            <a:srgbClr val="0E28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A71364E-AD47-1B7A-39CC-3B0E51928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Comparaison k=3 / k=6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23E891-50A6-88C9-C63D-C0BBDBF7F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0E2841"/>
                </a:solidFill>
              </a:rPr>
              <a:t>k = 6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dirty="0">
                <a:solidFill>
                  <a:srgbClr val="0E2841"/>
                </a:solidFill>
              </a:rPr>
              <a:t>– Plus granulaire, cohérent avec l’habitude interne.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dirty="0">
                <a:solidFill>
                  <a:srgbClr val="0E2841"/>
                </a:solidFill>
              </a:rPr>
              <a:t>– Permet une finesse marketing… mais difficile à maintenir et moins stable.</a:t>
            </a:r>
          </a:p>
          <a:p>
            <a:r>
              <a:rPr lang="fr-FR" b="1" dirty="0">
                <a:solidFill>
                  <a:srgbClr val="0E2841"/>
                </a:solidFill>
              </a:rPr>
              <a:t>k = 3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dirty="0">
                <a:solidFill>
                  <a:srgbClr val="0E2841"/>
                </a:solidFill>
              </a:rPr>
              <a:t>– Profils simples et nets.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dirty="0">
                <a:solidFill>
                  <a:srgbClr val="0E2841"/>
                </a:solidFill>
              </a:rPr>
              <a:t>– Meilleure séparation, meilleure stabilité.</a:t>
            </a:r>
            <a:br>
              <a:rPr lang="fr-FR" dirty="0">
                <a:solidFill>
                  <a:srgbClr val="0E2841"/>
                </a:solidFill>
              </a:rPr>
            </a:br>
            <a:r>
              <a:rPr lang="fr-FR" dirty="0">
                <a:solidFill>
                  <a:srgbClr val="0E2841"/>
                </a:solidFill>
              </a:rPr>
              <a:t>– Plus facile à utiliser réellement par le marketing.</a:t>
            </a:r>
          </a:p>
        </p:txBody>
      </p:sp>
    </p:spTree>
    <p:extLst>
      <p:ext uri="{BB962C8B-B14F-4D97-AF65-F5344CB8AC3E}">
        <p14:creationId xmlns:p14="http://schemas.microsoft.com/office/powerpoint/2010/main" val="1619375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D571A5-1D37-DEF6-7769-66E8A82CB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, diagramme, Tracé, ligne&#10;&#10;Le contenu généré par l’IA peut être incorrect.">
            <a:extLst>
              <a:ext uri="{FF2B5EF4-FFF2-40B4-BE49-F238E27FC236}">
                <a16:creationId xmlns:a16="http://schemas.microsoft.com/office/drawing/2014/main" id="{95A11919-968E-7E64-FC7E-BE85AECD73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42" y="1676586"/>
            <a:ext cx="5669999" cy="3504827"/>
          </a:xfrm>
          <a:prstGeom prst="rect">
            <a:avLst/>
          </a:prstGeom>
        </p:spPr>
      </p:pic>
      <p:pic>
        <p:nvPicPr>
          <p:cNvPr id="10" name="Image 9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B09B9014-8D78-C09A-5310-543DFEAE9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461" y="1676586"/>
            <a:ext cx="5669999" cy="350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390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941417-4E22-34FA-6C89-97501D9B6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nombre, carré&#10;&#10;Le contenu généré par l’IA peut être incorrect.">
            <a:extLst>
              <a:ext uri="{FF2B5EF4-FFF2-40B4-BE49-F238E27FC236}">
                <a16:creationId xmlns:a16="http://schemas.microsoft.com/office/drawing/2014/main" id="{971A891A-79F9-72C2-D044-33A6B7C9E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331" y="380144"/>
            <a:ext cx="5201132" cy="2789434"/>
          </a:xfrm>
          <a:prstGeom prst="rect">
            <a:avLst/>
          </a:prstGeom>
        </p:spPr>
      </p:pic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31F33963-EE50-4020-B5D2-27558D8CC5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634" y="380144"/>
            <a:ext cx="5201132" cy="278943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6663B08-8626-8C33-5424-BA6277980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940" y="4642262"/>
            <a:ext cx="7125694" cy="2152950"/>
          </a:xfrm>
          <a:prstGeom prst="rect">
            <a:avLst/>
          </a:prstGeom>
        </p:spPr>
      </p:pic>
      <p:pic>
        <p:nvPicPr>
          <p:cNvPr id="11" name="Image 10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CF125A8A-8829-0BF9-8BF9-CF7D57457A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940" y="3232365"/>
            <a:ext cx="7059010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707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B0364-0A86-170E-93FF-5654B7182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ABEE05EC-3E06-75E1-337A-F0BB1D72F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827" y="410159"/>
            <a:ext cx="7494142" cy="2643722"/>
          </a:xfrm>
        </p:spPr>
      </p:pic>
      <p:pic>
        <p:nvPicPr>
          <p:cNvPr id="8" name="Image 7" descr="Une image contenant ligne, Tracé, texte, diagramme&#10;&#10;Le contenu généré par l’IA peut être incorrect.">
            <a:extLst>
              <a:ext uri="{FF2B5EF4-FFF2-40B4-BE49-F238E27FC236}">
                <a16:creationId xmlns:a16="http://schemas.microsoft.com/office/drawing/2014/main" id="{477480CB-3F67-396F-ED23-1DEA983658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827" y="3429000"/>
            <a:ext cx="7494142" cy="264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015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B1CB4-AC13-21B5-13BE-B2F7F87E8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FE113B-159F-74D7-1A72-B615AA763587}"/>
              </a:ext>
            </a:extLst>
          </p:cNvPr>
          <p:cNvSpPr/>
          <p:nvPr/>
        </p:nvSpPr>
        <p:spPr>
          <a:xfrm>
            <a:off x="8160249" y="2034283"/>
            <a:ext cx="4031751" cy="4454148"/>
          </a:xfrm>
          <a:prstGeom prst="rect">
            <a:avLst/>
          </a:prstGeom>
          <a:solidFill>
            <a:srgbClr val="0E28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932D01-C1F7-6C58-CACA-18EA9CE16EE8}"/>
              </a:ext>
            </a:extLst>
          </p:cNvPr>
          <p:cNvSpPr/>
          <p:nvPr/>
        </p:nvSpPr>
        <p:spPr>
          <a:xfrm>
            <a:off x="4080124" y="2034283"/>
            <a:ext cx="4031751" cy="4454148"/>
          </a:xfrm>
          <a:prstGeom prst="rect">
            <a:avLst/>
          </a:prstGeom>
          <a:solidFill>
            <a:srgbClr val="0E28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236DF7-F5C8-79BD-C3F9-2EFEB6630729}"/>
              </a:ext>
            </a:extLst>
          </p:cNvPr>
          <p:cNvSpPr/>
          <p:nvPr/>
        </p:nvSpPr>
        <p:spPr>
          <a:xfrm>
            <a:off x="0" y="2034283"/>
            <a:ext cx="4031751" cy="4454148"/>
          </a:xfrm>
          <a:prstGeom prst="rect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6A9C22-032C-5418-3719-03B630BC796F}"/>
              </a:ext>
            </a:extLst>
          </p:cNvPr>
          <p:cNvSpPr/>
          <p:nvPr/>
        </p:nvSpPr>
        <p:spPr>
          <a:xfrm>
            <a:off x="-152400" y="-81280"/>
            <a:ext cx="12496800" cy="1788160"/>
          </a:xfrm>
          <a:prstGeom prst="rect">
            <a:avLst/>
          </a:prstGeom>
          <a:solidFill>
            <a:srgbClr val="0E28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243EDC7-2E9D-1DB5-481E-5BDF81D64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Segmentation finale (3 clusters)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A04C3F-31DF-C4E3-D371-D7636D2E7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093"/>
            <a:ext cx="4031751" cy="4351338"/>
          </a:xfrm>
          <a:ln>
            <a:solidFill>
              <a:srgbClr val="0E284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>
                <a:solidFill>
                  <a:schemeClr val="bg1"/>
                </a:solidFill>
              </a:rPr>
              <a:t>Cluster 0 : La Masse “standard” (≈ 80% des clients)</a:t>
            </a:r>
          </a:p>
          <a:p>
            <a:r>
              <a:rPr lang="fr-FR" sz="1800" b="1" dirty="0" err="1">
                <a:solidFill>
                  <a:schemeClr val="bg1"/>
                </a:solidFill>
              </a:rPr>
              <a:t>Recency</a:t>
            </a:r>
            <a:r>
              <a:rPr lang="fr-FR" sz="1800" b="1" dirty="0">
                <a:solidFill>
                  <a:schemeClr val="bg1"/>
                </a:solidFill>
              </a:rPr>
              <a:t> : moyenne (≈ 237 jours)</a:t>
            </a:r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b="1" dirty="0">
                <a:solidFill>
                  <a:schemeClr val="bg1"/>
                </a:solidFill>
              </a:rPr>
              <a:t>Frequency : très faible (1)</a:t>
            </a:r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b="1" dirty="0" err="1">
                <a:solidFill>
                  <a:schemeClr val="bg1"/>
                </a:solidFill>
              </a:rPr>
              <a:t>Monetary</a:t>
            </a:r>
            <a:r>
              <a:rPr lang="fr-FR" sz="1800" b="1" dirty="0">
                <a:solidFill>
                  <a:schemeClr val="bg1"/>
                </a:solidFill>
              </a:rPr>
              <a:t> : faible / moyen (~153 R$)</a:t>
            </a:r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b="1" dirty="0">
                <a:solidFill>
                  <a:schemeClr val="bg1"/>
                </a:solidFill>
              </a:rPr>
              <a:t>Avis : très bons (4.65)</a:t>
            </a:r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b="1" dirty="0">
                <a:solidFill>
                  <a:schemeClr val="bg1"/>
                </a:solidFill>
              </a:rPr>
              <a:t>Délai de livraison : correct (10.6 jours)</a:t>
            </a:r>
          </a:p>
          <a:p>
            <a:pPr marL="0" indent="0">
              <a:buNone/>
            </a:pPr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b="1" dirty="0">
                <a:solidFill>
                  <a:schemeClr val="bg1"/>
                </a:solidFill>
              </a:rPr>
              <a:t>Clients normaux, plutôt satisfaits, peu fidèles.</a:t>
            </a:r>
            <a:endParaRPr lang="fr-FR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rgbClr val="0E2841"/>
              </a:solidFill>
            </a:endParaRP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57D76C7A-BD5A-AEF8-46A7-A0D06C033369}"/>
              </a:ext>
            </a:extLst>
          </p:cNvPr>
          <p:cNvSpPr txBox="1">
            <a:spLocks/>
          </p:cNvSpPr>
          <p:nvPr/>
        </p:nvSpPr>
        <p:spPr>
          <a:xfrm>
            <a:off x="4104310" y="2137093"/>
            <a:ext cx="403175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b="1" dirty="0">
                <a:solidFill>
                  <a:schemeClr val="bg1"/>
                </a:solidFill>
              </a:rPr>
              <a:t>Cluster 1 : Gros acheteurs satisfaits (≈ 3% des clients)</a:t>
            </a:r>
          </a:p>
          <a:p>
            <a:r>
              <a:rPr lang="fr-FR" sz="1800" b="1" dirty="0" err="1">
                <a:solidFill>
                  <a:schemeClr val="bg1"/>
                </a:solidFill>
              </a:rPr>
              <a:t>Recency</a:t>
            </a:r>
            <a:r>
              <a:rPr lang="fr-FR" sz="1800" b="1" dirty="0">
                <a:solidFill>
                  <a:schemeClr val="bg1"/>
                </a:solidFill>
              </a:rPr>
              <a:t> : relativement bonne (≈ 220 jours)</a:t>
            </a:r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b="1" dirty="0">
                <a:solidFill>
                  <a:schemeClr val="bg1"/>
                </a:solidFill>
              </a:rPr>
              <a:t>Frequency : la seule avec &gt; 2 commandes (2.11)</a:t>
            </a:r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b="1" dirty="0" err="1">
                <a:solidFill>
                  <a:schemeClr val="bg1"/>
                </a:solidFill>
              </a:rPr>
              <a:t>Monetary</a:t>
            </a:r>
            <a:r>
              <a:rPr lang="fr-FR" sz="1800" b="1" dirty="0">
                <a:solidFill>
                  <a:schemeClr val="bg1"/>
                </a:solidFill>
              </a:rPr>
              <a:t> : élevé (~326 R$)</a:t>
            </a:r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b="1" dirty="0">
                <a:solidFill>
                  <a:schemeClr val="bg1"/>
                </a:solidFill>
              </a:rPr>
              <a:t>Avis : bons (4.20)</a:t>
            </a:r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b="1" dirty="0">
                <a:solidFill>
                  <a:schemeClr val="bg1"/>
                </a:solidFill>
              </a:rPr>
              <a:t>Délai : correct (12.3 jours)</a:t>
            </a:r>
          </a:p>
          <a:p>
            <a:pPr marL="0" indent="0">
              <a:buNone/>
            </a:pPr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b="1" dirty="0">
                <a:solidFill>
                  <a:schemeClr val="bg1"/>
                </a:solidFill>
              </a:rPr>
              <a:t>Cluster PREMIUM : peu nombreux, très rentables, plutôt satisfaits.</a:t>
            </a:r>
            <a:endParaRPr lang="fr-FR" sz="1800" dirty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fr-FR" dirty="0">
              <a:solidFill>
                <a:srgbClr val="0E2841"/>
              </a:solidFill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A6B4AE65-E84E-B29C-03B8-8576640FE04D}"/>
              </a:ext>
            </a:extLst>
          </p:cNvPr>
          <p:cNvSpPr txBox="1">
            <a:spLocks/>
          </p:cNvSpPr>
          <p:nvPr/>
        </p:nvSpPr>
        <p:spPr>
          <a:xfrm>
            <a:off x="8160248" y="2153285"/>
            <a:ext cx="403175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b="1" dirty="0">
                <a:solidFill>
                  <a:schemeClr val="bg1"/>
                </a:solidFill>
              </a:rPr>
              <a:t>Cluster 2 : Clients insatisfaits / problèmes logistiques (≈ 17%)</a:t>
            </a:r>
          </a:p>
          <a:p>
            <a:r>
              <a:rPr lang="fr-FR" sz="1800" b="1" dirty="0" err="1">
                <a:solidFill>
                  <a:schemeClr val="bg1"/>
                </a:solidFill>
              </a:rPr>
              <a:t>Recency</a:t>
            </a:r>
            <a:r>
              <a:rPr lang="fr-FR" sz="1800" b="1" dirty="0">
                <a:solidFill>
                  <a:schemeClr val="bg1"/>
                </a:solidFill>
              </a:rPr>
              <a:t> : la pire (~246 jours)</a:t>
            </a:r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b="1" dirty="0">
                <a:solidFill>
                  <a:schemeClr val="bg1"/>
                </a:solidFill>
              </a:rPr>
              <a:t>Frequency : 1 commande</a:t>
            </a:r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b="1" dirty="0" err="1">
                <a:solidFill>
                  <a:schemeClr val="bg1"/>
                </a:solidFill>
              </a:rPr>
              <a:t>Monetary</a:t>
            </a:r>
            <a:r>
              <a:rPr lang="fr-FR" sz="1800" b="1" dirty="0">
                <a:solidFill>
                  <a:schemeClr val="bg1"/>
                </a:solidFill>
              </a:rPr>
              <a:t> : faible/modéré (~194 R$)</a:t>
            </a:r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b="1" dirty="0">
                <a:solidFill>
                  <a:schemeClr val="bg1"/>
                </a:solidFill>
              </a:rPr>
              <a:t>Avis : catastrophiques : 1.79 (!!)</a:t>
            </a:r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b="1" dirty="0">
                <a:solidFill>
                  <a:schemeClr val="bg1"/>
                </a:solidFill>
              </a:rPr>
              <a:t>Livraison : TRÈS mauvaise (~22 jours, record)</a:t>
            </a:r>
          </a:p>
          <a:p>
            <a:pPr marL="0" indent="0">
              <a:buNone/>
            </a:pPr>
            <a:endParaRPr lang="fr-FR" sz="1800" dirty="0">
              <a:solidFill>
                <a:schemeClr val="bg1"/>
              </a:solidFill>
            </a:endParaRPr>
          </a:p>
          <a:p>
            <a:r>
              <a:rPr lang="fr-FR" sz="1800" b="1" dirty="0">
                <a:solidFill>
                  <a:schemeClr val="bg1"/>
                </a:solidFill>
              </a:rPr>
              <a:t>Clients insatisfaits, probablement liés à des problèmes de livraison. “à risque / en perte”.</a:t>
            </a:r>
            <a:endParaRPr lang="fr-FR" sz="1800" dirty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fr-FR" dirty="0">
              <a:solidFill>
                <a:srgbClr val="0E28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128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761B2-DC1A-4AD2-8EFA-84AFE2B7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D1D5FF-3CBC-A08B-4768-69428129597D}"/>
              </a:ext>
            </a:extLst>
          </p:cNvPr>
          <p:cNvSpPr/>
          <p:nvPr/>
        </p:nvSpPr>
        <p:spPr>
          <a:xfrm>
            <a:off x="-152400" y="-81280"/>
            <a:ext cx="12496800" cy="1788160"/>
          </a:xfrm>
          <a:prstGeom prst="rect">
            <a:avLst/>
          </a:prstGeom>
          <a:solidFill>
            <a:srgbClr val="0E28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5BBC4AA-E58C-BEE0-7EBB-DA97C7C5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Recommandations marketing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74868F-980E-E358-F068-E08AEE643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2200" b="1" dirty="0"/>
              <a:t>Cluster 0 – “Clients standards / cœur de base”</a:t>
            </a:r>
            <a:br>
              <a:rPr lang="fr-FR" sz="2200" dirty="0"/>
            </a:br>
            <a:r>
              <a:rPr lang="fr-FR" sz="2200" dirty="0"/>
              <a:t>– Maintenir la satisfaction (score d’avis élevé)</a:t>
            </a:r>
            <a:br>
              <a:rPr lang="fr-FR" sz="2200" dirty="0"/>
            </a:br>
            <a:r>
              <a:rPr lang="fr-FR" sz="2200" dirty="0"/>
              <a:t>– Renforcer la confiance à travers la qualité de service</a:t>
            </a:r>
            <a:br>
              <a:rPr lang="fr-FR" sz="2200" dirty="0"/>
            </a:br>
            <a:r>
              <a:rPr lang="fr-FR" sz="2200" dirty="0"/>
              <a:t>– Proposer des offres simples, non agressives</a:t>
            </a:r>
            <a:br>
              <a:rPr lang="fr-FR" sz="2200" dirty="0"/>
            </a:br>
            <a:r>
              <a:rPr lang="fr-FR" sz="2200" dirty="0"/>
              <a:t>– Encourager la répétition d’achat via des rappels automatiques</a:t>
            </a:r>
          </a:p>
          <a:p>
            <a:pPr marL="0" indent="0">
              <a:buNone/>
            </a:pPr>
            <a:endParaRPr lang="fr-FR" sz="2200" dirty="0"/>
          </a:p>
          <a:p>
            <a:r>
              <a:rPr lang="fr-FR" sz="2200" b="1" dirty="0"/>
              <a:t>Cluster 1 – “Clients premium / à forte valeur”</a:t>
            </a:r>
            <a:br>
              <a:rPr lang="fr-FR" sz="2200" dirty="0"/>
            </a:br>
            <a:r>
              <a:rPr lang="fr-FR" sz="2200" dirty="0"/>
              <a:t>– Programmes fidélité à forte incitation</a:t>
            </a:r>
            <a:br>
              <a:rPr lang="fr-FR" sz="2200" dirty="0"/>
            </a:br>
            <a:r>
              <a:rPr lang="fr-FR" sz="2200" dirty="0"/>
              <a:t>– </a:t>
            </a:r>
            <a:r>
              <a:rPr lang="fr-FR" sz="2200" dirty="0" err="1"/>
              <a:t>Upsell</a:t>
            </a:r>
            <a:r>
              <a:rPr lang="fr-FR" sz="2200" dirty="0"/>
              <a:t> / cross-</a:t>
            </a:r>
            <a:r>
              <a:rPr lang="fr-FR" sz="2200" dirty="0" err="1"/>
              <a:t>sell</a:t>
            </a:r>
            <a:r>
              <a:rPr lang="fr-FR" sz="2200" dirty="0"/>
              <a:t> sur des catégories complémentaires</a:t>
            </a:r>
            <a:br>
              <a:rPr lang="fr-FR" sz="2200" dirty="0"/>
            </a:br>
            <a:r>
              <a:rPr lang="fr-FR" sz="2200" dirty="0"/>
              <a:t>– Offres exclusives réservées “haute contribution”</a:t>
            </a:r>
            <a:br>
              <a:rPr lang="fr-FR" sz="2200" dirty="0"/>
            </a:br>
            <a:r>
              <a:rPr lang="fr-FR" sz="2200" dirty="0"/>
              <a:t>– Parcours VIP : service client prioritaire, livraison optimisée</a:t>
            </a:r>
          </a:p>
          <a:p>
            <a:pPr marL="0" indent="0">
              <a:buNone/>
            </a:pPr>
            <a:endParaRPr lang="fr-FR" sz="2200" dirty="0"/>
          </a:p>
          <a:p>
            <a:r>
              <a:rPr lang="fr-FR" sz="2200" b="1" dirty="0"/>
              <a:t>Cluster 2 – “Clients insatisfaits / faible satisfaction &amp; délai élevé”</a:t>
            </a:r>
            <a:br>
              <a:rPr lang="fr-FR" sz="2200" dirty="0"/>
            </a:br>
            <a:r>
              <a:rPr lang="fr-FR" sz="2200" dirty="0"/>
              <a:t>– Priorité : améliorer l’expérience (réassurance, support proactif)</a:t>
            </a:r>
            <a:br>
              <a:rPr lang="fr-FR" sz="2200" dirty="0"/>
            </a:br>
            <a:r>
              <a:rPr lang="fr-FR" sz="2200" dirty="0"/>
              <a:t>– Actions de reconquête ciblées (compensation légère, geste commercial)</a:t>
            </a:r>
            <a:br>
              <a:rPr lang="fr-FR" sz="2200" dirty="0"/>
            </a:br>
            <a:r>
              <a:rPr lang="fr-FR" sz="2200" dirty="0"/>
              <a:t>– Communication centrée sur la fiabilité (suivi livraison, transparence)</a:t>
            </a:r>
            <a:br>
              <a:rPr lang="fr-FR" sz="2200" dirty="0"/>
            </a:br>
            <a:r>
              <a:rPr lang="fr-FR" sz="2200" dirty="0"/>
              <a:t>– Éviter les campagnes agressives : risque de </a:t>
            </a:r>
            <a:r>
              <a:rPr lang="fr-FR" sz="2200" dirty="0" err="1"/>
              <a:t>churn</a:t>
            </a:r>
            <a:r>
              <a:rPr lang="fr-FR" sz="2200" dirty="0"/>
              <a:t> élevé</a:t>
            </a:r>
          </a:p>
          <a:p>
            <a:pPr marL="0" indent="0">
              <a:buNone/>
            </a:pPr>
            <a:endParaRPr lang="fr-FR" dirty="0">
              <a:solidFill>
                <a:srgbClr val="0E28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423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4DCAA-81B6-9A89-3093-8FADE7A0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5C81DB-0A79-B9C7-31C1-724141B2D790}"/>
              </a:ext>
            </a:extLst>
          </p:cNvPr>
          <p:cNvSpPr/>
          <p:nvPr/>
        </p:nvSpPr>
        <p:spPr>
          <a:xfrm>
            <a:off x="-152400" y="-81280"/>
            <a:ext cx="12496800" cy="1788160"/>
          </a:xfrm>
          <a:prstGeom prst="rect">
            <a:avLst/>
          </a:prstGeom>
          <a:solidFill>
            <a:srgbClr val="0E28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B5C6495-C4E2-2589-0A55-D2D0A64A9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Limites &amp; pistes d’amélioration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FBE980-67E3-BE67-1E75-47E678577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RFM = modèle simplifié</a:t>
            </a:r>
            <a:br>
              <a:rPr lang="fr-FR" dirty="0"/>
            </a:br>
            <a:endParaRPr lang="fr-FR" dirty="0"/>
          </a:p>
          <a:p>
            <a:r>
              <a:rPr lang="fr-FR" dirty="0"/>
              <a:t>Données démographiques absentes</a:t>
            </a:r>
            <a:br>
              <a:rPr lang="fr-FR" dirty="0"/>
            </a:br>
            <a:endParaRPr lang="fr-FR" dirty="0"/>
          </a:p>
          <a:p>
            <a:r>
              <a:rPr lang="fr-FR" dirty="0"/>
              <a:t>Pas d’analyse séquentielle des achats</a:t>
            </a:r>
          </a:p>
          <a:p>
            <a:endParaRPr lang="fr-FR" dirty="0"/>
          </a:p>
          <a:p>
            <a:r>
              <a:rPr lang="fr-FR" dirty="0"/>
              <a:t>Possibilité future : LTV, RNN, clustering multivarié plus riche</a:t>
            </a:r>
            <a:endParaRPr lang="fr-FR" dirty="0">
              <a:solidFill>
                <a:srgbClr val="0E28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8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D73A3-6CE6-8448-788D-3316A617D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2A664D-874D-B9E0-75B8-C8F70531DB1C}"/>
              </a:ext>
            </a:extLst>
          </p:cNvPr>
          <p:cNvSpPr/>
          <p:nvPr/>
        </p:nvSpPr>
        <p:spPr>
          <a:xfrm>
            <a:off x="-152400" y="-81280"/>
            <a:ext cx="12496800" cy="1788160"/>
          </a:xfrm>
          <a:prstGeom prst="rect">
            <a:avLst/>
          </a:prstGeom>
          <a:solidFill>
            <a:srgbClr val="0E28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8043CF8-E0B2-9A22-C800-5E5A28799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53121E-EEF2-887E-82E7-247B2D3E7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7413"/>
            <a:ext cx="10515600" cy="4351338"/>
          </a:xfrm>
        </p:spPr>
        <p:txBody>
          <a:bodyPr>
            <a:normAutofit/>
          </a:bodyPr>
          <a:lstStyle/>
          <a:p>
            <a:r>
              <a:rPr lang="fr-FR" dirty="0"/>
              <a:t>3 segments clairs, stables, opérationnels.</a:t>
            </a:r>
            <a:br>
              <a:rPr lang="fr-FR" dirty="0"/>
            </a:br>
            <a:endParaRPr lang="fr-FR" dirty="0"/>
          </a:p>
          <a:p>
            <a:r>
              <a:rPr lang="fr-FR" dirty="0"/>
              <a:t>Résultats pertinents : Benchmark, tests de stabilité, comparaison k=3 / k=6.</a:t>
            </a:r>
            <a:br>
              <a:rPr lang="fr-FR" dirty="0"/>
            </a:br>
            <a:endParaRPr lang="fr-FR" dirty="0"/>
          </a:p>
          <a:p>
            <a:r>
              <a:rPr lang="fr-FR" dirty="0"/>
              <a:t>Segmentation immédiatement utile au marketing. Le choix de k=6 pourrait également être retenu pour une segmentation plus fine, en acceptant une moindre cohérence statistique.</a:t>
            </a:r>
            <a:endParaRPr lang="fr-FR" dirty="0">
              <a:solidFill>
                <a:srgbClr val="0E28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22483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1038</Words>
  <Application>Microsoft Office PowerPoint</Application>
  <PresentationFormat>Grand écran</PresentationFormat>
  <Paragraphs>88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Thème Office</vt:lpstr>
      <vt:lpstr>Segmentation Clients – Olist</vt:lpstr>
      <vt:lpstr>Présentation PowerPoint</vt:lpstr>
      <vt:lpstr>Contexte &amp; Enjeux métier</vt:lpstr>
      <vt:lpstr>Objectif du projet</vt:lpstr>
      <vt:lpstr>Jeu de données &amp; Préparation</vt:lpstr>
      <vt:lpstr>Variables RFM</vt:lpstr>
      <vt:lpstr>Benchmark des algorithmes</vt:lpstr>
      <vt:lpstr>Présentation PowerPoint</vt:lpstr>
      <vt:lpstr>Présentation PowerPoint</vt:lpstr>
      <vt:lpstr>Détermination du nombre de clusters</vt:lpstr>
      <vt:lpstr>Comparaison k=3 / k=6</vt:lpstr>
      <vt:lpstr>Présentation PowerPoint</vt:lpstr>
      <vt:lpstr>Présentation PowerPoint</vt:lpstr>
      <vt:lpstr>Présentation PowerPoint</vt:lpstr>
      <vt:lpstr>Segmentation finale (3 clusters)</vt:lpstr>
      <vt:lpstr>Recommandations marketing</vt:lpstr>
      <vt:lpstr>Limites &amp; pistes d’amélioration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Aurelien Gruzon</dc:creator>
  <cp:lastModifiedBy>Aurelien Gruzon</cp:lastModifiedBy>
  <cp:revision>14</cp:revision>
  <dcterms:created xsi:type="dcterms:W3CDTF">2025-11-24T11:31:52Z</dcterms:created>
  <dcterms:modified xsi:type="dcterms:W3CDTF">2025-11-24T14:18:28Z</dcterms:modified>
</cp:coreProperties>
</file>